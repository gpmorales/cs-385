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64" r:id="rId2"/>
    <p:sldId id="260" r:id="rId3"/>
    <p:sldId id="262"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4" d="100"/>
          <a:sy n="94" d="100"/>
        </p:scale>
        <p:origin x="78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162F74-0E02-4EC4-8E9D-5AA769243A1B}" type="datetimeFigureOut">
              <a:rPr lang="en-US" smtClean="0"/>
              <a:t>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748E5A-CACA-41FD-A2FA-A0B8C7434BFA}" type="slidenum">
              <a:rPr lang="en-US" smtClean="0"/>
              <a:t>‹#›</a:t>
            </a:fld>
            <a:endParaRPr lang="en-US"/>
          </a:p>
        </p:txBody>
      </p:sp>
    </p:spTree>
    <p:extLst>
      <p:ext uri="{BB962C8B-B14F-4D97-AF65-F5344CB8AC3E}">
        <p14:creationId xmlns:p14="http://schemas.microsoft.com/office/powerpoint/2010/main" val="412618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B23C2F-79DA-4BAA-865B-9CB57598BC5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1196885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B23C2F-79DA-4BAA-865B-9CB57598BC5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228825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B23C2F-79DA-4BAA-865B-9CB57598BC5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2545949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B23C2F-79DA-4BAA-865B-9CB57598BC5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124600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B23C2F-79DA-4BAA-865B-9CB57598BC54}" type="datetimeFigureOut">
              <a:rPr lang="en-US" smtClean="0"/>
              <a:t>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1307914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B23C2F-79DA-4BAA-865B-9CB57598BC5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1545735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B23C2F-79DA-4BAA-865B-9CB57598BC54}" type="datetimeFigureOut">
              <a:rPr lang="en-US" smtClean="0"/>
              <a:t>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3064324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B23C2F-79DA-4BAA-865B-9CB57598BC5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63961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B23C2F-79DA-4BAA-865B-9CB57598BC5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1230389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B23C2F-79DA-4BAA-865B-9CB57598BC5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1354248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B23C2F-79DA-4BAA-865B-9CB57598BC5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BB807C-5F0B-4C7C-9F5D-D54168A14CA3}" type="slidenum">
              <a:rPr lang="en-US" smtClean="0"/>
              <a:t>‹#›</a:t>
            </a:fld>
            <a:endParaRPr lang="en-US"/>
          </a:p>
        </p:txBody>
      </p:sp>
    </p:spTree>
    <p:extLst>
      <p:ext uri="{BB962C8B-B14F-4D97-AF65-F5344CB8AC3E}">
        <p14:creationId xmlns:p14="http://schemas.microsoft.com/office/powerpoint/2010/main" val="1182441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B23C2F-79DA-4BAA-865B-9CB57598BC54}" type="datetimeFigureOut">
              <a:rPr lang="en-US" smtClean="0"/>
              <a:t>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BB807C-5F0B-4C7C-9F5D-D54168A14CA3}" type="slidenum">
              <a:rPr lang="en-US" smtClean="0"/>
              <a:t>‹#›</a:t>
            </a:fld>
            <a:endParaRPr lang="en-US"/>
          </a:p>
        </p:txBody>
      </p:sp>
    </p:spTree>
    <p:extLst>
      <p:ext uri="{BB962C8B-B14F-4D97-AF65-F5344CB8AC3E}">
        <p14:creationId xmlns:p14="http://schemas.microsoft.com/office/powerpoint/2010/main" val="29305822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E1520-B9B0-3564-A69D-1054BB156222}"/>
              </a:ext>
            </a:extLst>
          </p:cNvPr>
          <p:cNvSpPr>
            <a:spLocks noGrp="1"/>
          </p:cNvSpPr>
          <p:nvPr>
            <p:ph type="title"/>
          </p:nvPr>
        </p:nvSpPr>
        <p:spPr>
          <a:xfrm>
            <a:off x="1733448" y="501650"/>
            <a:ext cx="8725102" cy="1325563"/>
          </a:xfrm>
        </p:spPr>
        <p:txBody>
          <a:bodyPr/>
          <a:lstStyle/>
          <a:p>
            <a:r>
              <a:rPr lang="en-US" u="sng" dirty="0"/>
              <a:t>Assignment 1: Sequential Storyboard</a:t>
            </a:r>
          </a:p>
        </p:txBody>
      </p:sp>
      <p:sp>
        <p:nvSpPr>
          <p:cNvPr id="4" name="Date Placeholder 3">
            <a:extLst>
              <a:ext uri="{FF2B5EF4-FFF2-40B4-BE49-F238E27FC236}">
                <a16:creationId xmlns:a16="http://schemas.microsoft.com/office/drawing/2014/main" id="{170B2994-0B38-E5AC-C013-127D7A2BA323}"/>
              </a:ext>
            </a:extLst>
          </p:cNvPr>
          <p:cNvSpPr>
            <a:spLocks noGrp="1"/>
          </p:cNvSpPr>
          <p:nvPr>
            <p:ph type="dt" sz="half" idx="10"/>
          </p:nvPr>
        </p:nvSpPr>
        <p:spPr/>
        <p:txBody>
          <a:bodyPr/>
          <a:lstStyle/>
          <a:p>
            <a:fld id="{9549D321-BE40-4D99-A414-E0541AC44D81}" type="datetime1">
              <a:rPr lang="en-US" smtClean="0"/>
              <a:t>2/8/2025</a:t>
            </a:fld>
            <a:endParaRPr lang="en-US" dirty="0"/>
          </a:p>
        </p:txBody>
      </p:sp>
      <p:sp>
        <p:nvSpPr>
          <p:cNvPr id="8" name="Rectangle 3">
            <a:extLst>
              <a:ext uri="{FF2B5EF4-FFF2-40B4-BE49-F238E27FC236}">
                <a16:creationId xmlns:a16="http://schemas.microsoft.com/office/drawing/2014/main" id="{58C8DCC4-74C6-1C9B-DFC3-4FFB910673EA}"/>
              </a:ext>
            </a:extLst>
          </p:cNvPr>
          <p:cNvSpPr>
            <a:spLocks noChangeArrowheads="1"/>
          </p:cNvSpPr>
          <p:nvPr/>
        </p:nvSpPr>
        <p:spPr bwMode="auto">
          <a:xfrm>
            <a:off x="1630017" y="2274838"/>
            <a:ext cx="8931965" cy="2308324"/>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ptos" panose="020B0004020202020204" pitchFamily="34" charset="0"/>
              </a:rPr>
              <a:t>For my interaction design, I would like to revisit my web-based data visualization platform. This ongoing project heavily incorporates an interactive GUI, allowing users to create graphs, widgets, and charts from datasets in CSV and Excel formats.</a:t>
            </a:r>
            <a:br>
              <a:rPr kumimoji="0" lang="en-US" altLang="en-US" sz="1800" b="0" i="0" u="none" strike="noStrike" cap="none" normalizeH="0" baseline="0" dirty="0">
                <a:ln>
                  <a:noFill/>
                </a:ln>
                <a:solidFill>
                  <a:schemeClr val="tx1"/>
                </a:solidFill>
                <a:effectLst/>
                <a:latin typeface="Aptos" panose="020B0004020202020204" pitchFamily="34" charset="0"/>
              </a:rPr>
            </a:br>
            <a:endParaRPr kumimoji="0" lang="en-US" altLang="en-US" sz="18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ptos" panose="020B0004020202020204" pitchFamily="34" charset="0"/>
              </a:rPr>
              <a:t>Currently, users upload a dataset and provide a description for context. The program then extracts the columns and prompts users to add labels and descriptions for each one. Finally, after clicking "Create," the system generates graph widgets and places them in a carousel.</a:t>
            </a:r>
          </a:p>
        </p:txBody>
      </p:sp>
    </p:spTree>
    <p:extLst>
      <p:ext uri="{BB962C8B-B14F-4D97-AF65-F5344CB8AC3E}">
        <p14:creationId xmlns:p14="http://schemas.microsoft.com/office/powerpoint/2010/main" val="3371986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295C70-34B0-A099-D657-7B8FE2D7A4CB}"/>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27ED9AD4-AAD1-D007-5BDD-D92228E3E59F}"/>
              </a:ext>
            </a:extLst>
          </p:cNvPr>
          <p:cNvGrpSpPr/>
          <p:nvPr/>
        </p:nvGrpSpPr>
        <p:grpSpPr>
          <a:xfrm>
            <a:off x="7910183" y="3716493"/>
            <a:ext cx="4018660" cy="2984408"/>
            <a:chOff x="6800161" y="3528601"/>
            <a:chExt cx="4641253" cy="3446770"/>
          </a:xfrm>
        </p:grpSpPr>
        <p:pic>
          <p:nvPicPr>
            <p:cNvPr id="31" name="Picture 2" descr="9,600+ Computer Monitor Transparent Stock Illustrations, Royalty-Free  Vector Graphics &amp; Clip Art - iStock | Computer monitor transparent  background">
              <a:extLst>
                <a:ext uri="{FF2B5EF4-FFF2-40B4-BE49-F238E27FC236}">
                  <a16:creationId xmlns:a16="http://schemas.microsoft.com/office/drawing/2014/main" id="{2736D5F2-5E00-4420-3327-BB0A8E3DFC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00161" y="3528601"/>
              <a:ext cx="4591419" cy="3213995"/>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C105BBDB-F766-7853-F8C5-4E1282CEF54C}"/>
                </a:ext>
              </a:extLst>
            </p:cNvPr>
            <p:cNvSpPr txBox="1"/>
            <p:nvPr/>
          </p:nvSpPr>
          <p:spPr>
            <a:xfrm>
              <a:off x="8737158" y="6086724"/>
              <a:ext cx="2704256" cy="888647"/>
            </a:xfrm>
            <a:prstGeom prst="rect">
              <a:avLst/>
            </a:prstGeom>
            <a:solidFill>
              <a:schemeClr val="accent1">
                <a:lumMod val="20000"/>
                <a:lumOff val="80000"/>
              </a:schemeClr>
            </a:solidFill>
            <a:ln>
              <a:solidFill>
                <a:schemeClr val="tx1"/>
              </a:solidFill>
            </a:ln>
          </p:spPr>
          <p:txBody>
            <a:bodyPr wrap="square" rtlCol="0">
              <a:spAutoFit/>
            </a:bodyPr>
            <a:lstStyle/>
            <a:p>
              <a:r>
                <a:rPr lang="en-US" sz="1100" dirty="0"/>
                <a:t>User can now collapse widget carrousel and interact with graph widgets. Widget position and size are static.</a:t>
              </a:r>
            </a:p>
          </p:txBody>
        </p:sp>
      </p:grpSp>
      <p:pic>
        <p:nvPicPr>
          <p:cNvPr id="34" name="Picture 33">
            <a:extLst>
              <a:ext uri="{FF2B5EF4-FFF2-40B4-BE49-F238E27FC236}">
                <a16:creationId xmlns:a16="http://schemas.microsoft.com/office/drawing/2014/main" id="{757F04FC-5765-F587-3F8A-72BA26F1596F}"/>
              </a:ext>
            </a:extLst>
          </p:cNvPr>
          <p:cNvPicPr>
            <a:picLocks noChangeAspect="1"/>
          </p:cNvPicPr>
          <p:nvPr/>
        </p:nvPicPr>
        <p:blipFill>
          <a:blip r:embed="rId3"/>
          <a:srcRect l="859" t="1398"/>
          <a:stretch/>
        </p:blipFill>
        <p:spPr>
          <a:xfrm>
            <a:off x="8191414" y="4021594"/>
            <a:ext cx="3414730" cy="1914180"/>
          </a:xfrm>
          <a:prstGeom prst="rect">
            <a:avLst/>
          </a:prstGeom>
        </p:spPr>
      </p:pic>
      <p:pic>
        <p:nvPicPr>
          <p:cNvPr id="9" name="Picture 2" descr="9,600+ Computer Monitor Transparent Stock Illustrations, Royalty-Free  Vector Graphics &amp; Clip Art - iStock | Computer monitor transparent  background">
            <a:extLst>
              <a:ext uri="{FF2B5EF4-FFF2-40B4-BE49-F238E27FC236}">
                <a16:creationId xmlns:a16="http://schemas.microsoft.com/office/drawing/2014/main" id="{07BF6A39-DE11-DC19-B279-C9204B6BF52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4553" y="463007"/>
            <a:ext cx="4150242" cy="290517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3840B5C-78A9-BD14-FA41-71BD4E085306}"/>
              </a:ext>
            </a:extLst>
          </p:cNvPr>
          <p:cNvPicPr>
            <a:picLocks noChangeAspect="1"/>
          </p:cNvPicPr>
          <p:nvPr/>
        </p:nvPicPr>
        <p:blipFill>
          <a:blip r:embed="rId4"/>
          <a:stretch>
            <a:fillRect/>
          </a:stretch>
        </p:blipFill>
        <p:spPr>
          <a:xfrm>
            <a:off x="1030568" y="780298"/>
            <a:ext cx="3564302" cy="1988762"/>
          </a:xfrm>
          <a:prstGeom prst="rect">
            <a:avLst/>
          </a:prstGeom>
        </p:spPr>
      </p:pic>
      <p:pic>
        <p:nvPicPr>
          <p:cNvPr id="1026" name="Picture 2" descr="9,600+ Computer Monitor Transparent Stock Illustrations, Royalty-Free  Vector Graphics &amp; Clip Art - iStock | Computer monitor transparent  background">
            <a:extLst>
              <a:ext uri="{FF2B5EF4-FFF2-40B4-BE49-F238E27FC236}">
                <a16:creationId xmlns:a16="http://schemas.microsoft.com/office/drawing/2014/main" id="{11AFD45C-F2EB-8787-3DFC-B404EFC3119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11190" y="463007"/>
            <a:ext cx="4150242" cy="290517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9,600+ Computer Monitor Transparent Stock Illustrations, Royalty-Free  Vector Graphics &amp; Clip Art - iStock | Computer monitor transparent  background">
            <a:extLst>
              <a:ext uri="{FF2B5EF4-FFF2-40B4-BE49-F238E27FC236}">
                <a16:creationId xmlns:a16="http://schemas.microsoft.com/office/drawing/2014/main" id="{4E697DF9-957C-5B87-16EA-14C52478F73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1913" y="3738793"/>
            <a:ext cx="3819946" cy="267396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9,600+ Computer Monitor Transparent Stock Illustrations, Royalty-Free  Vector Graphics &amp; Clip Art - iStock | Computer monitor transparent  background">
            <a:extLst>
              <a:ext uri="{FF2B5EF4-FFF2-40B4-BE49-F238E27FC236}">
                <a16:creationId xmlns:a16="http://schemas.microsoft.com/office/drawing/2014/main" id="{E4BC089A-A470-5DA9-34B6-4DDCE8DD7C2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93691" y="3738793"/>
            <a:ext cx="3943657" cy="276056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D1AFB487-ACA0-0D55-478A-62C9EEDC224B}"/>
              </a:ext>
            </a:extLst>
          </p:cNvPr>
          <p:cNvCxnSpPr>
            <a:cxnSpLocks/>
            <a:stCxn id="9" idx="3"/>
            <a:endCxn id="1026" idx="1"/>
          </p:cNvCxnSpPr>
          <p:nvPr/>
        </p:nvCxnSpPr>
        <p:spPr>
          <a:xfrm>
            <a:off x="4884795" y="1915592"/>
            <a:ext cx="2126395"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F3707434-F548-AF32-0B6E-35AEE8AD6A91}"/>
              </a:ext>
            </a:extLst>
          </p:cNvPr>
          <p:cNvCxnSpPr>
            <a:cxnSpLocks/>
          </p:cNvCxnSpPr>
          <p:nvPr/>
        </p:nvCxnSpPr>
        <p:spPr>
          <a:xfrm flipH="1">
            <a:off x="3260035" y="2518913"/>
            <a:ext cx="3943657" cy="140801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8EE0B4D7-C2BE-61E8-5787-7BE55D659C25}"/>
              </a:ext>
            </a:extLst>
          </p:cNvPr>
          <p:cNvSpPr txBox="1"/>
          <p:nvPr/>
        </p:nvSpPr>
        <p:spPr>
          <a:xfrm>
            <a:off x="11511504" y="254099"/>
            <a:ext cx="334407" cy="369332"/>
          </a:xfrm>
          <a:prstGeom prst="rect">
            <a:avLst/>
          </a:prstGeom>
          <a:noFill/>
          <a:ln>
            <a:solidFill>
              <a:schemeClr val="tx1"/>
            </a:solidFill>
          </a:ln>
        </p:spPr>
        <p:txBody>
          <a:bodyPr wrap="square" rtlCol="0">
            <a:spAutoFit/>
          </a:bodyPr>
          <a:lstStyle/>
          <a:p>
            <a:r>
              <a:rPr lang="en-US" dirty="0"/>
              <a:t>2</a:t>
            </a:r>
          </a:p>
        </p:txBody>
      </p:sp>
      <p:sp>
        <p:nvSpPr>
          <p:cNvPr id="22" name="TextBox 21">
            <a:extLst>
              <a:ext uri="{FF2B5EF4-FFF2-40B4-BE49-F238E27FC236}">
                <a16:creationId xmlns:a16="http://schemas.microsoft.com/office/drawing/2014/main" id="{861CF8FC-5B2F-5BA7-C221-A01D91C8D212}"/>
              </a:ext>
            </a:extLst>
          </p:cNvPr>
          <p:cNvSpPr txBox="1"/>
          <p:nvPr/>
        </p:nvSpPr>
        <p:spPr>
          <a:xfrm>
            <a:off x="344680" y="137068"/>
            <a:ext cx="4231178" cy="369332"/>
          </a:xfrm>
          <a:prstGeom prst="rect">
            <a:avLst/>
          </a:prstGeom>
          <a:noFill/>
          <a:ln>
            <a:solidFill>
              <a:schemeClr val="tx1"/>
            </a:solidFill>
          </a:ln>
        </p:spPr>
        <p:txBody>
          <a:bodyPr wrap="square" rtlCol="0">
            <a:spAutoFit/>
          </a:bodyPr>
          <a:lstStyle/>
          <a:p>
            <a:pPr algn="ctr"/>
            <a:r>
              <a:rPr lang="en-US" dirty="0"/>
              <a:t>Current Dashboard-Creation Flow</a:t>
            </a:r>
          </a:p>
        </p:txBody>
      </p:sp>
      <p:cxnSp>
        <p:nvCxnSpPr>
          <p:cNvPr id="38" name="Straight Arrow Connector 37">
            <a:extLst>
              <a:ext uri="{FF2B5EF4-FFF2-40B4-BE49-F238E27FC236}">
                <a16:creationId xmlns:a16="http://schemas.microsoft.com/office/drawing/2014/main" id="{F2ECB207-D540-E583-72BF-1D11112F78F4}"/>
              </a:ext>
            </a:extLst>
          </p:cNvPr>
          <p:cNvCxnSpPr>
            <a:cxnSpLocks/>
          </p:cNvCxnSpPr>
          <p:nvPr/>
        </p:nvCxnSpPr>
        <p:spPr>
          <a:xfrm flipV="1">
            <a:off x="3857504" y="5044416"/>
            <a:ext cx="496813" cy="3135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50DFF3AE-28BF-958A-FBE2-2D2D3E1459ED}"/>
              </a:ext>
            </a:extLst>
          </p:cNvPr>
          <p:cNvCxnSpPr>
            <a:cxnSpLocks/>
          </p:cNvCxnSpPr>
          <p:nvPr/>
        </p:nvCxnSpPr>
        <p:spPr>
          <a:xfrm flipV="1">
            <a:off x="7724871" y="4977698"/>
            <a:ext cx="496813" cy="3135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DF34898C-3846-AF54-136A-B3A8205CB2CF}"/>
              </a:ext>
            </a:extLst>
          </p:cNvPr>
          <p:cNvSpPr txBox="1"/>
          <p:nvPr/>
        </p:nvSpPr>
        <p:spPr>
          <a:xfrm>
            <a:off x="926378" y="6016098"/>
            <a:ext cx="2645749" cy="600164"/>
          </a:xfrm>
          <a:prstGeom prst="rect">
            <a:avLst/>
          </a:prstGeom>
          <a:solidFill>
            <a:schemeClr val="accent1">
              <a:lumMod val="20000"/>
              <a:lumOff val="80000"/>
            </a:schemeClr>
          </a:solidFill>
          <a:ln>
            <a:solidFill>
              <a:schemeClr val="tx1"/>
            </a:solidFill>
          </a:ln>
        </p:spPr>
        <p:txBody>
          <a:bodyPr wrap="square" rtlCol="0">
            <a:spAutoFit/>
          </a:bodyPr>
          <a:lstStyle/>
          <a:p>
            <a:r>
              <a:rPr lang="en-US" sz="1100" dirty="0"/>
              <a:t>Application creates graph and charts based on the dataset columns and data types. User is provided with the graphs.</a:t>
            </a:r>
          </a:p>
        </p:txBody>
      </p:sp>
      <p:sp>
        <p:nvSpPr>
          <p:cNvPr id="46" name="TextBox 45">
            <a:extLst>
              <a:ext uri="{FF2B5EF4-FFF2-40B4-BE49-F238E27FC236}">
                <a16:creationId xmlns:a16="http://schemas.microsoft.com/office/drawing/2014/main" id="{5B2429E0-B77D-4406-D00E-C339F13B7453}"/>
              </a:ext>
            </a:extLst>
          </p:cNvPr>
          <p:cNvSpPr txBox="1"/>
          <p:nvPr/>
        </p:nvSpPr>
        <p:spPr>
          <a:xfrm>
            <a:off x="8151384" y="175254"/>
            <a:ext cx="2076918" cy="430887"/>
          </a:xfrm>
          <a:prstGeom prst="rect">
            <a:avLst/>
          </a:prstGeom>
          <a:solidFill>
            <a:schemeClr val="accent1">
              <a:lumMod val="20000"/>
              <a:lumOff val="80000"/>
            </a:schemeClr>
          </a:solidFill>
          <a:ln>
            <a:solidFill>
              <a:schemeClr val="tx1"/>
            </a:solidFill>
          </a:ln>
        </p:spPr>
        <p:txBody>
          <a:bodyPr wrap="square" rtlCol="0">
            <a:spAutoFit/>
          </a:bodyPr>
          <a:lstStyle/>
          <a:p>
            <a:r>
              <a:rPr lang="en-US" sz="1100" dirty="0"/>
              <a:t>User must provide information on the extracted columns</a:t>
            </a:r>
          </a:p>
        </p:txBody>
      </p:sp>
      <p:sp>
        <p:nvSpPr>
          <p:cNvPr id="43" name="TextBox 42">
            <a:extLst>
              <a:ext uri="{FF2B5EF4-FFF2-40B4-BE49-F238E27FC236}">
                <a16:creationId xmlns:a16="http://schemas.microsoft.com/office/drawing/2014/main" id="{914987E0-A123-1E3F-1F82-968BBD20F244}"/>
              </a:ext>
            </a:extLst>
          </p:cNvPr>
          <p:cNvSpPr txBox="1"/>
          <p:nvPr/>
        </p:nvSpPr>
        <p:spPr>
          <a:xfrm>
            <a:off x="444628" y="2120994"/>
            <a:ext cx="1653062" cy="938719"/>
          </a:xfrm>
          <a:prstGeom prst="rect">
            <a:avLst/>
          </a:prstGeom>
          <a:solidFill>
            <a:schemeClr val="accent1">
              <a:lumMod val="20000"/>
              <a:lumOff val="80000"/>
            </a:schemeClr>
          </a:solidFill>
          <a:ln>
            <a:solidFill>
              <a:schemeClr val="tx1"/>
            </a:solidFill>
          </a:ln>
        </p:spPr>
        <p:txBody>
          <a:bodyPr wrap="square" rtlCol="0">
            <a:spAutoFit/>
          </a:bodyPr>
          <a:lstStyle/>
          <a:p>
            <a:r>
              <a:rPr lang="en-US" sz="1100" dirty="0"/>
              <a:t>User uploads a Dataset in the form of a CSV. They then provide a description of the dataset in the text box.</a:t>
            </a:r>
          </a:p>
        </p:txBody>
      </p:sp>
      <p:pic>
        <p:nvPicPr>
          <p:cNvPr id="17" name="Picture 16">
            <a:extLst>
              <a:ext uri="{FF2B5EF4-FFF2-40B4-BE49-F238E27FC236}">
                <a16:creationId xmlns:a16="http://schemas.microsoft.com/office/drawing/2014/main" id="{4C18294A-2B5B-2921-4210-DD477A93DB30}"/>
              </a:ext>
            </a:extLst>
          </p:cNvPr>
          <p:cNvPicPr>
            <a:picLocks noChangeAspect="1"/>
          </p:cNvPicPr>
          <p:nvPr/>
        </p:nvPicPr>
        <p:blipFill>
          <a:blip r:embed="rId5"/>
          <a:stretch>
            <a:fillRect/>
          </a:stretch>
        </p:blipFill>
        <p:spPr>
          <a:xfrm>
            <a:off x="7297914" y="780299"/>
            <a:ext cx="3576794" cy="1973222"/>
          </a:xfrm>
          <a:prstGeom prst="rect">
            <a:avLst/>
          </a:prstGeom>
        </p:spPr>
      </p:pic>
      <p:pic>
        <p:nvPicPr>
          <p:cNvPr id="19" name="Picture 18">
            <a:extLst>
              <a:ext uri="{FF2B5EF4-FFF2-40B4-BE49-F238E27FC236}">
                <a16:creationId xmlns:a16="http://schemas.microsoft.com/office/drawing/2014/main" id="{C1CAE4FB-7F5A-D27F-79B7-C2CB1C6A0BA8}"/>
              </a:ext>
            </a:extLst>
          </p:cNvPr>
          <p:cNvPicPr>
            <a:picLocks noChangeAspect="1"/>
          </p:cNvPicPr>
          <p:nvPr/>
        </p:nvPicPr>
        <p:blipFill>
          <a:blip r:embed="rId6"/>
          <a:stretch>
            <a:fillRect/>
          </a:stretch>
        </p:blipFill>
        <p:spPr>
          <a:xfrm>
            <a:off x="519871" y="4018655"/>
            <a:ext cx="3315342" cy="1826762"/>
          </a:xfrm>
          <a:prstGeom prst="rect">
            <a:avLst/>
          </a:prstGeom>
        </p:spPr>
      </p:pic>
      <p:pic>
        <p:nvPicPr>
          <p:cNvPr id="27" name="Picture 26">
            <a:extLst>
              <a:ext uri="{FF2B5EF4-FFF2-40B4-BE49-F238E27FC236}">
                <a16:creationId xmlns:a16="http://schemas.microsoft.com/office/drawing/2014/main" id="{F29CA496-A96E-8DAB-B265-8333D817661A}"/>
              </a:ext>
            </a:extLst>
          </p:cNvPr>
          <p:cNvPicPr>
            <a:picLocks noChangeAspect="1"/>
          </p:cNvPicPr>
          <p:nvPr/>
        </p:nvPicPr>
        <p:blipFill>
          <a:blip r:embed="rId7"/>
          <a:srcRect r="-126"/>
          <a:stretch/>
        </p:blipFill>
        <p:spPr>
          <a:xfrm>
            <a:off x="4376607" y="4019621"/>
            <a:ext cx="3413045" cy="1916153"/>
          </a:xfrm>
          <a:prstGeom prst="rect">
            <a:avLst/>
          </a:prstGeom>
        </p:spPr>
      </p:pic>
      <p:sp>
        <p:nvSpPr>
          <p:cNvPr id="45" name="TextBox 44">
            <a:extLst>
              <a:ext uri="{FF2B5EF4-FFF2-40B4-BE49-F238E27FC236}">
                <a16:creationId xmlns:a16="http://schemas.microsoft.com/office/drawing/2014/main" id="{0A847ECB-56B5-5019-5ACC-DC48C0B176B7}"/>
              </a:ext>
            </a:extLst>
          </p:cNvPr>
          <p:cNvSpPr txBox="1"/>
          <p:nvPr/>
        </p:nvSpPr>
        <p:spPr>
          <a:xfrm>
            <a:off x="5136818" y="5630965"/>
            <a:ext cx="1918364" cy="430887"/>
          </a:xfrm>
          <a:prstGeom prst="rect">
            <a:avLst/>
          </a:prstGeom>
          <a:solidFill>
            <a:schemeClr val="accent1">
              <a:lumMod val="20000"/>
              <a:lumOff val="80000"/>
            </a:schemeClr>
          </a:solidFill>
          <a:ln>
            <a:solidFill>
              <a:schemeClr val="tx1"/>
            </a:solidFill>
          </a:ln>
        </p:spPr>
        <p:txBody>
          <a:bodyPr wrap="square" rtlCol="0">
            <a:spAutoFit/>
          </a:bodyPr>
          <a:lstStyle/>
          <a:p>
            <a:r>
              <a:rPr lang="en-US" sz="1100" dirty="0"/>
              <a:t>User can now add Graph Widgets to their dashboard</a:t>
            </a:r>
          </a:p>
        </p:txBody>
      </p:sp>
    </p:spTree>
    <p:extLst>
      <p:ext uri="{BB962C8B-B14F-4D97-AF65-F5344CB8AC3E}">
        <p14:creationId xmlns:p14="http://schemas.microsoft.com/office/powerpoint/2010/main" val="3809627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888DB-8832-8B13-46F6-970D8B6F61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6180E19-752D-9933-1A01-F5131C5A0E11}"/>
              </a:ext>
            </a:extLst>
          </p:cNvPr>
          <p:cNvSpPr txBox="1"/>
          <p:nvPr/>
        </p:nvSpPr>
        <p:spPr>
          <a:xfrm>
            <a:off x="4357343" y="253844"/>
            <a:ext cx="3507128" cy="369332"/>
          </a:xfrm>
          <a:prstGeom prst="rect">
            <a:avLst/>
          </a:prstGeom>
          <a:noFill/>
          <a:ln>
            <a:solidFill>
              <a:schemeClr val="tx1"/>
            </a:solidFill>
          </a:ln>
        </p:spPr>
        <p:txBody>
          <a:bodyPr wrap="square" rtlCol="0">
            <a:spAutoFit/>
          </a:bodyPr>
          <a:lstStyle/>
          <a:p>
            <a:pPr algn="ctr"/>
            <a:r>
              <a:rPr lang="en-US" dirty="0"/>
              <a:t>Worksheet 2 – Interaction Flows</a:t>
            </a:r>
          </a:p>
        </p:txBody>
      </p:sp>
      <p:sp>
        <p:nvSpPr>
          <p:cNvPr id="21" name="TextBox 20">
            <a:extLst>
              <a:ext uri="{FF2B5EF4-FFF2-40B4-BE49-F238E27FC236}">
                <a16:creationId xmlns:a16="http://schemas.microsoft.com/office/drawing/2014/main" id="{E3AEF582-BE43-7755-DE12-E077EAED4E79}"/>
              </a:ext>
            </a:extLst>
          </p:cNvPr>
          <p:cNvSpPr txBox="1"/>
          <p:nvPr/>
        </p:nvSpPr>
        <p:spPr>
          <a:xfrm>
            <a:off x="11511504" y="254099"/>
            <a:ext cx="334407" cy="369332"/>
          </a:xfrm>
          <a:prstGeom prst="rect">
            <a:avLst/>
          </a:prstGeom>
          <a:noFill/>
          <a:ln>
            <a:solidFill>
              <a:schemeClr val="tx1"/>
            </a:solidFill>
          </a:ln>
        </p:spPr>
        <p:txBody>
          <a:bodyPr wrap="square" rtlCol="0">
            <a:spAutoFit/>
          </a:bodyPr>
          <a:lstStyle/>
          <a:p>
            <a:r>
              <a:rPr lang="en-US" dirty="0"/>
              <a:t>3</a:t>
            </a:r>
          </a:p>
        </p:txBody>
      </p:sp>
      <p:sp>
        <p:nvSpPr>
          <p:cNvPr id="10" name="TextBox 9">
            <a:extLst>
              <a:ext uri="{FF2B5EF4-FFF2-40B4-BE49-F238E27FC236}">
                <a16:creationId xmlns:a16="http://schemas.microsoft.com/office/drawing/2014/main" id="{C1CA8272-66E6-B06C-96F6-56ABA4FFA3FB}"/>
              </a:ext>
            </a:extLst>
          </p:cNvPr>
          <p:cNvSpPr txBox="1"/>
          <p:nvPr/>
        </p:nvSpPr>
        <p:spPr>
          <a:xfrm>
            <a:off x="963262" y="996247"/>
            <a:ext cx="4870815" cy="2308324"/>
          </a:xfrm>
          <a:prstGeom prst="rect">
            <a:avLst/>
          </a:prstGeom>
          <a:noFill/>
          <a:ln>
            <a:solidFill>
              <a:schemeClr val="tx1"/>
            </a:solidFill>
          </a:ln>
        </p:spPr>
        <p:txBody>
          <a:bodyPr wrap="square" rtlCol="0">
            <a:spAutoFit/>
          </a:bodyPr>
          <a:lstStyle/>
          <a:p>
            <a:r>
              <a:rPr lang="en-US" dirty="0"/>
              <a:t>Current Dashboard In Flow:</a:t>
            </a:r>
          </a:p>
          <a:p>
            <a:pPr marL="285750" indent="-285750">
              <a:buFontTx/>
              <a:buChar char="-"/>
            </a:pPr>
            <a:r>
              <a:rPr lang="en-US" dirty="0"/>
              <a:t>Attach a CSV or Excel File</a:t>
            </a:r>
          </a:p>
          <a:p>
            <a:pPr marL="285750" indent="-285750">
              <a:buFontTx/>
              <a:buChar char="-"/>
            </a:pPr>
            <a:r>
              <a:rPr lang="en-US" dirty="0"/>
              <a:t>Describe the dataset and give prompt context</a:t>
            </a:r>
          </a:p>
          <a:p>
            <a:pPr marL="285750" indent="-285750">
              <a:buFontTx/>
              <a:buChar char="-"/>
            </a:pPr>
            <a:r>
              <a:rPr lang="en-US" dirty="0"/>
              <a:t>Give each column a description</a:t>
            </a:r>
          </a:p>
          <a:p>
            <a:pPr marL="285750" indent="-285750">
              <a:buFontTx/>
              <a:buChar char="-"/>
            </a:pPr>
            <a:r>
              <a:rPr lang="en-US" dirty="0"/>
              <a:t>Give each column a data type</a:t>
            </a:r>
          </a:p>
          <a:p>
            <a:pPr marL="285750" indent="-285750">
              <a:buFontTx/>
              <a:buChar char="-"/>
            </a:pPr>
            <a:r>
              <a:rPr lang="en-US" dirty="0"/>
              <a:t>Wait for Graphs and Charts to render</a:t>
            </a:r>
          </a:p>
          <a:p>
            <a:pPr marL="285750" indent="-285750">
              <a:buFontTx/>
              <a:buChar char="-"/>
            </a:pPr>
            <a:r>
              <a:rPr lang="en-US" dirty="0"/>
              <a:t>Add Graphs and Charts to Dashboard</a:t>
            </a:r>
          </a:p>
        </p:txBody>
      </p:sp>
      <p:sp>
        <p:nvSpPr>
          <p:cNvPr id="14" name="TextBox 13">
            <a:extLst>
              <a:ext uri="{FF2B5EF4-FFF2-40B4-BE49-F238E27FC236}">
                <a16:creationId xmlns:a16="http://schemas.microsoft.com/office/drawing/2014/main" id="{16463CFC-4803-438E-4CBC-62CC2FF59C6D}"/>
              </a:ext>
            </a:extLst>
          </p:cNvPr>
          <p:cNvSpPr txBox="1"/>
          <p:nvPr/>
        </p:nvSpPr>
        <p:spPr>
          <a:xfrm>
            <a:off x="6571676" y="996247"/>
            <a:ext cx="4870815" cy="923330"/>
          </a:xfrm>
          <a:prstGeom prst="rect">
            <a:avLst/>
          </a:prstGeom>
          <a:noFill/>
          <a:ln>
            <a:solidFill>
              <a:schemeClr val="tx1"/>
            </a:solidFill>
          </a:ln>
        </p:spPr>
        <p:txBody>
          <a:bodyPr wrap="square" rtlCol="0">
            <a:spAutoFit/>
          </a:bodyPr>
          <a:lstStyle/>
          <a:p>
            <a:pPr marL="285750" indent="-285750">
              <a:buFontTx/>
              <a:buChar char="-"/>
            </a:pPr>
            <a:r>
              <a:rPr lang="en-US" dirty="0"/>
              <a:t>Tedious</a:t>
            </a:r>
          </a:p>
          <a:p>
            <a:pPr marL="285750" indent="-285750">
              <a:buFontTx/>
              <a:buChar char="-"/>
            </a:pPr>
            <a:r>
              <a:rPr lang="en-US" dirty="0"/>
              <a:t>Many Steps involved</a:t>
            </a:r>
          </a:p>
          <a:p>
            <a:pPr marL="285750" indent="-285750">
              <a:buFontTx/>
              <a:buChar char="-"/>
            </a:pPr>
            <a:r>
              <a:rPr lang="en-US" dirty="0"/>
              <a:t>More User input needed than necessary</a:t>
            </a:r>
          </a:p>
        </p:txBody>
      </p:sp>
      <p:sp>
        <p:nvSpPr>
          <p:cNvPr id="18" name="TextBox 17">
            <a:extLst>
              <a:ext uri="{FF2B5EF4-FFF2-40B4-BE49-F238E27FC236}">
                <a16:creationId xmlns:a16="http://schemas.microsoft.com/office/drawing/2014/main" id="{77287CDC-9A71-EDB5-A245-CAACB8ABAF0B}"/>
              </a:ext>
            </a:extLst>
          </p:cNvPr>
          <p:cNvSpPr txBox="1"/>
          <p:nvPr/>
        </p:nvSpPr>
        <p:spPr>
          <a:xfrm>
            <a:off x="6571675" y="2150409"/>
            <a:ext cx="4870815" cy="1200329"/>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Tx/>
              <a:buChar char="-"/>
            </a:pPr>
            <a:r>
              <a:rPr lang="en-US" dirty="0"/>
              <a:t>Solution – Remove the user input page </a:t>
            </a:r>
          </a:p>
          <a:p>
            <a:pPr marL="285750" indent="-285750">
              <a:buFontTx/>
              <a:buChar char="-"/>
            </a:pPr>
            <a:r>
              <a:rPr lang="en-US" dirty="0"/>
              <a:t>Allow the AI model to extract the  column descriptions and column datatypes automatically (</a:t>
            </a:r>
            <a:r>
              <a:rPr lang="en-US" b="1" dirty="0"/>
              <a:t>See Figma</a:t>
            </a:r>
            <a:r>
              <a:rPr lang="en-US" dirty="0"/>
              <a:t>)</a:t>
            </a:r>
          </a:p>
        </p:txBody>
      </p:sp>
      <p:cxnSp>
        <p:nvCxnSpPr>
          <p:cNvPr id="20" name="Straight Connector 19">
            <a:extLst>
              <a:ext uri="{FF2B5EF4-FFF2-40B4-BE49-F238E27FC236}">
                <a16:creationId xmlns:a16="http://schemas.microsoft.com/office/drawing/2014/main" id="{9562E32D-0651-FDC2-F21A-2100E7EE9859}"/>
              </a:ext>
            </a:extLst>
          </p:cNvPr>
          <p:cNvCxnSpPr/>
          <p:nvPr/>
        </p:nvCxnSpPr>
        <p:spPr>
          <a:xfrm>
            <a:off x="805668" y="3645792"/>
            <a:ext cx="10833904" cy="0"/>
          </a:xfrm>
          <a:prstGeom prst="line">
            <a:avLst/>
          </a:prstGeom>
        </p:spPr>
        <p:style>
          <a:lnRef idx="2">
            <a:schemeClr val="dk1"/>
          </a:lnRef>
          <a:fillRef idx="0">
            <a:schemeClr val="dk1"/>
          </a:fillRef>
          <a:effectRef idx="1">
            <a:schemeClr val="dk1"/>
          </a:effectRef>
          <a:fontRef idx="minor">
            <a:schemeClr val="tx1"/>
          </a:fontRef>
        </p:style>
      </p:cxnSp>
      <p:sp>
        <p:nvSpPr>
          <p:cNvPr id="2" name="TextBox 1">
            <a:extLst>
              <a:ext uri="{FF2B5EF4-FFF2-40B4-BE49-F238E27FC236}">
                <a16:creationId xmlns:a16="http://schemas.microsoft.com/office/drawing/2014/main" id="{BD3ED6AE-DD3E-CABB-1C77-560A4C59B567}"/>
              </a:ext>
            </a:extLst>
          </p:cNvPr>
          <p:cNvSpPr txBox="1"/>
          <p:nvPr/>
        </p:nvSpPr>
        <p:spPr>
          <a:xfrm>
            <a:off x="963262" y="3908219"/>
            <a:ext cx="4870815" cy="1754326"/>
          </a:xfrm>
          <a:prstGeom prst="rect">
            <a:avLst/>
          </a:prstGeom>
          <a:noFill/>
          <a:ln>
            <a:solidFill>
              <a:schemeClr val="tx1"/>
            </a:solidFill>
          </a:ln>
        </p:spPr>
        <p:txBody>
          <a:bodyPr wrap="square" rtlCol="0">
            <a:spAutoFit/>
          </a:bodyPr>
          <a:lstStyle/>
          <a:p>
            <a:r>
              <a:rPr lang="en-US" dirty="0"/>
              <a:t>Current Widget Interactions:</a:t>
            </a:r>
          </a:p>
          <a:p>
            <a:pPr marL="285750" indent="-285750">
              <a:buFontTx/>
              <a:buChar char="-"/>
            </a:pPr>
            <a:r>
              <a:rPr lang="en-US" dirty="0"/>
              <a:t>Can only pin widget to a set, static grid box</a:t>
            </a:r>
          </a:p>
          <a:p>
            <a:pPr marL="285750" indent="-285750">
              <a:buFontTx/>
              <a:buChar char="-"/>
            </a:pPr>
            <a:r>
              <a:rPr lang="en-US" dirty="0"/>
              <a:t>Can not move around widget or resize the widget dynamically</a:t>
            </a:r>
          </a:p>
          <a:p>
            <a:pPr marL="285750" indent="-285750">
              <a:buFontTx/>
              <a:buChar char="-"/>
            </a:pPr>
            <a:r>
              <a:rPr lang="en-US" dirty="0"/>
              <a:t>Widgets cannot be altered, except a zoom in option</a:t>
            </a:r>
          </a:p>
        </p:txBody>
      </p:sp>
      <p:sp>
        <p:nvSpPr>
          <p:cNvPr id="3" name="TextBox 2">
            <a:extLst>
              <a:ext uri="{FF2B5EF4-FFF2-40B4-BE49-F238E27FC236}">
                <a16:creationId xmlns:a16="http://schemas.microsoft.com/office/drawing/2014/main" id="{51E84815-94D6-B885-15C0-29457D4149DC}"/>
              </a:ext>
            </a:extLst>
          </p:cNvPr>
          <p:cNvSpPr txBox="1"/>
          <p:nvPr/>
        </p:nvSpPr>
        <p:spPr>
          <a:xfrm>
            <a:off x="6571676" y="3908219"/>
            <a:ext cx="4870815" cy="1200329"/>
          </a:xfrm>
          <a:prstGeom prst="rect">
            <a:avLst/>
          </a:prstGeom>
          <a:noFill/>
          <a:ln>
            <a:solidFill>
              <a:schemeClr val="tx1"/>
            </a:solidFill>
          </a:ln>
        </p:spPr>
        <p:txBody>
          <a:bodyPr wrap="square" rtlCol="0">
            <a:spAutoFit/>
          </a:bodyPr>
          <a:lstStyle/>
          <a:p>
            <a:pPr marL="285750" indent="-285750">
              <a:buFontTx/>
              <a:buChar char="-"/>
            </a:pPr>
            <a:r>
              <a:rPr lang="en-US" dirty="0"/>
              <a:t>Tedious</a:t>
            </a:r>
          </a:p>
          <a:p>
            <a:pPr marL="285750" indent="-285750">
              <a:buFontTx/>
              <a:buChar char="-"/>
            </a:pPr>
            <a:r>
              <a:rPr lang="en-US" dirty="0"/>
              <a:t>User interaction is minimal and does not allow for more engaging visualization experience</a:t>
            </a:r>
          </a:p>
        </p:txBody>
      </p:sp>
      <p:sp>
        <p:nvSpPr>
          <p:cNvPr id="4" name="TextBox 3">
            <a:extLst>
              <a:ext uri="{FF2B5EF4-FFF2-40B4-BE49-F238E27FC236}">
                <a16:creationId xmlns:a16="http://schemas.microsoft.com/office/drawing/2014/main" id="{2D21FFFA-E80A-8E98-8E3E-C5948596150B}"/>
              </a:ext>
            </a:extLst>
          </p:cNvPr>
          <p:cNvSpPr txBox="1"/>
          <p:nvPr/>
        </p:nvSpPr>
        <p:spPr>
          <a:xfrm>
            <a:off x="6571675" y="5311239"/>
            <a:ext cx="4870815" cy="923330"/>
          </a:xfrm>
          <a:prstGeom prst="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Tx/>
              <a:buChar char="-"/>
            </a:pPr>
            <a:r>
              <a:rPr lang="en-US" dirty="0"/>
              <a:t>Solution – Add interactive widgets, so resizing, dynamic placeholding, and flexible  movement </a:t>
            </a:r>
            <a:r>
              <a:rPr lang="en-US" b="1" dirty="0"/>
              <a:t>(See Figma)</a:t>
            </a:r>
          </a:p>
        </p:txBody>
      </p:sp>
    </p:spTree>
    <p:extLst>
      <p:ext uri="{BB962C8B-B14F-4D97-AF65-F5344CB8AC3E}">
        <p14:creationId xmlns:p14="http://schemas.microsoft.com/office/powerpoint/2010/main" val="34658477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276</TotalTime>
  <Words>335</Words>
  <Application>Microsoft Office PowerPoint</Application>
  <PresentationFormat>Widescreen</PresentationFormat>
  <Paragraphs>32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Assignment 1: Sequential Storyboard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George</dc:creator>
  <cp:lastModifiedBy>Morales, George</cp:lastModifiedBy>
  <cp:revision>27</cp:revision>
  <dcterms:created xsi:type="dcterms:W3CDTF">2025-01-29T22:04:09Z</dcterms:created>
  <dcterms:modified xsi:type="dcterms:W3CDTF">2025-02-08T19:08:48Z</dcterms:modified>
</cp:coreProperties>
</file>